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0.png"/><Relationship Id="rId3" Type="http://schemas.openxmlformats.org/officeDocument/2006/relationships/tags" Target="../tags/tag3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2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12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E8F5E9">
              <a:alpha val="5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7BC67E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E8F5E9">
              <a:alpha val="4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1996 —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AD钙奶30周年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H5互动广告页 — 项目指南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7BC67E"/>
          </a:solidFill>
        </p:spPr>
      </p:sp>
      <p:sp>
        <p:nvSpPr>
          <p:cNvPr id="9" name="Text 7"/>
          <p:cNvSpPr/>
          <p:nvPr/>
        </p:nvSpPr>
        <p:spPr>
          <a:xfrm>
            <a:off x="731520" y="32918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A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陪你酸酸甜甜  懂你可可爱爱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2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7BC67E">
              <a:alpha val="12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CREATIVE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84048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7BC6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核心玩法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
</a:t>
            </a:r>
            <a:r>
              <a:rPr lang="en-US" sz="1300" dirty="0">
                <a:solidFill>
                  <a:srgbClr val="DDDD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通过5道情绪向选择题，测试用户的"AD人格"，将5种口味与5种人格类型绑定，用户答题后获得专属人格结果，并可生成分享海报。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7680960" cy="9144"/>
          </a:xfrm>
          <a:prstGeom prst="rect">
            <a:avLst/>
          </a:prstGeom>
          <a:solidFill>
            <a:srgbClr val="7BC67E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4852670" y="593090"/>
            <a:ext cx="384048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7BC6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设计哲学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
</a:t>
            </a:r>
            <a:r>
              <a:rPr lang="en-US" sz="1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Tender Formalism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C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温柔形式主义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
</a:t>
            </a:r>
            <a:r>
              <a:rPr lang="en-US" sz="1300" dirty="0">
                <a:solidFill>
                  <a:srgbClr val="DDDD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用系统观察的精确性表达温柔情感。每一处颜色、间距、字体都像科学家标注标本一样精心。三层纹理模拟纸张呼吸感，黄金比例锚定布局，四档字重创造戏剧性对比。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2560320" cy="82296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690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977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互动测试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42519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5题选择，精准匹配人格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20440" y="3931920"/>
            <a:ext cx="2560320" cy="82296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4069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3977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分享海报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114800" y="42519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生成专属人格海报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3931920"/>
            <a:ext cx="2560320" cy="82296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690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3977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品牌焕新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903720" y="42519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30周年IP认知强化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E8F5E9">
              <a:alpha val="5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用户体验流程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32004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691640"/>
            <a:ext cx="640080" cy="64008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7" name="Text 5"/>
          <p:cNvSpPr/>
          <p:nvPr/>
        </p:nvSpPr>
        <p:spPr>
          <a:xfrm>
            <a:off x="150876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开屏引入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3017520"/>
            <a:ext cx="914400" cy="27432"/>
          </a:xfrm>
          <a:prstGeom prst="rect">
            <a:avLst/>
          </a:prstGeom>
          <a:solidFill>
            <a:srgbClr val="7BC67E"/>
          </a:solidFill>
        </p:spPr>
      </p:sp>
      <p:sp>
        <p:nvSpPr>
          <p:cNvPr id="10" name="Text 8"/>
          <p:cNvSpPr/>
          <p:nvPr/>
        </p:nvSpPr>
        <p:spPr>
          <a:xfrm>
            <a:off x="822960" y="3200400"/>
            <a:ext cx="2057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AD钙奶瓶拟人化眨眼动画</a:t>
            </a:r>
            <a:endParaRPr lang="en-US" sz="12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标题逐字弹出效果</a:t>
            </a:r>
            <a:endParaRPr lang="en-US" sz="12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Slogan呼吸引导按钮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606040" cy="32004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691640"/>
            <a:ext cx="640080" cy="640080"/>
          </a:xfrm>
          <a:prstGeom prst="ellipse">
            <a:avLst/>
          </a:prstGeom>
          <a:solidFill>
            <a:srgbClr val="5BAF5E"/>
          </a:solidFill>
        </p:spPr>
      </p:sp>
      <p:sp>
        <p:nvSpPr>
          <p:cNvPr id="13" name="Text 11"/>
          <p:cNvSpPr/>
          <p:nvPr/>
        </p:nvSpPr>
        <p:spPr>
          <a:xfrm>
            <a:off x="438912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人格测试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51960" y="3017520"/>
            <a:ext cx="914400" cy="27432"/>
          </a:xfrm>
          <a:prstGeom prst="rect">
            <a:avLst/>
          </a:prstGeom>
          <a:solidFill>
            <a:srgbClr val="5BAF5E"/>
          </a:solidFill>
        </p:spPr>
      </p:sp>
      <p:sp>
        <p:nvSpPr>
          <p:cNvPr id="16" name="Text 14"/>
          <p:cNvSpPr/>
          <p:nvPr/>
        </p:nvSpPr>
        <p:spPr>
          <a:xfrm>
            <a:off x="3703320" y="3200400"/>
            <a:ext cx="2057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5道情绪向选择题</a:t>
            </a:r>
            <a:endParaRPr lang="en-US" sz="12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选项卡片交互动效</a:t>
            </a:r>
            <a:endParaRPr lang="en-US" sz="12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进度条实时反馈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2606040" cy="32004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69480" y="1691640"/>
            <a:ext cx="640080" cy="64008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19" name="Text 17"/>
          <p:cNvSpPr/>
          <p:nvPr/>
        </p:nvSpPr>
        <p:spPr>
          <a:xfrm>
            <a:off x="726948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结果展示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32320" y="3017520"/>
            <a:ext cx="914400" cy="27432"/>
          </a:xfrm>
          <a:prstGeom prst="rect">
            <a:avLst/>
          </a:prstGeom>
          <a:solidFill>
            <a:srgbClr val="7BC67E"/>
          </a:solidFill>
        </p:spPr>
      </p:sp>
      <p:sp>
        <p:nvSpPr>
          <p:cNvPr id="22" name="Text 20"/>
          <p:cNvSpPr/>
          <p:nvPr/>
        </p:nvSpPr>
        <p:spPr>
          <a:xfrm>
            <a:off x="6583680" y="3200400"/>
            <a:ext cx="2057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专属人格结果页</a:t>
            </a:r>
            <a:endParaRPr lang="en-US" sz="12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氛围光晕+纸屑庆祝</a:t>
            </a:r>
            <a:endParaRPr lang="en-US" sz="12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生成分享海报保存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834640"/>
            <a:ext cx="320040" cy="320040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834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PERSONALITIES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五种AD人格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1600200" cy="73152"/>
          </a:xfrm>
          <a:prstGeom prst="rect">
            <a:avLst/>
          </a:prstGeom>
          <a:solidFill>
            <a:srgbClr val="7BC67E"/>
          </a:solidFill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7" name="Text 5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复古新人类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#经典永不过时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868680" cy="9144"/>
          </a:xfrm>
          <a:prstGeom prst="rect">
            <a:avLst/>
          </a:prstGeom>
          <a:solidFill>
            <a:srgbClr val="C6C2B7">
              <a:alpha val="5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365760" y="306324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你念旧但不守旧</a:t>
            </a:r>
            <a:endParaRPr lang="en-US" sz="10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传统但不老套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84248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84248" y="1188720"/>
            <a:ext cx="1600200" cy="73152"/>
          </a:xfrm>
          <a:prstGeom prst="rect">
            <a:avLst/>
          </a:prstGeom>
          <a:solidFill>
            <a:srgbClr val="FFB6C1"/>
          </a:solidFill>
        </p:spPr>
      </p:sp>
      <p:sp>
        <p:nvSpPr>
          <p:cNvPr id="14" name="Shape 12"/>
          <p:cNvSpPr/>
          <p:nvPr/>
        </p:nvSpPr>
        <p:spPr>
          <a:xfrm>
            <a:off x="2487168" y="1463040"/>
            <a:ext cx="548640" cy="548640"/>
          </a:xfrm>
          <a:prstGeom prst="ellipse">
            <a:avLst/>
          </a:prstGeom>
          <a:solidFill>
            <a:srgbClr val="FFB6C1"/>
          </a:solidFill>
        </p:spPr>
      </p:sp>
      <p:sp>
        <p:nvSpPr>
          <p:cNvPr id="15" name="Text 13"/>
          <p:cNvSpPr/>
          <p:nvPr/>
        </p:nvSpPr>
        <p:spPr>
          <a:xfrm>
            <a:off x="2487168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草莓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75688" y="214884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甜心硬核派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75688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#甜到骨骼惊奇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50008" y="2926080"/>
            <a:ext cx="868680" cy="9144"/>
          </a:xfrm>
          <a:prstGeom prst="rect">
            <a:avLst/>
          </a:prstGeom>
          <a:solidFill>
            <a:srgbClr val="C6C2B7">
              <a:alpha val="5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2121408" y="306324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甜只是你的保护色</a:t>
            </a:r>
            <a:endParaRPr lang="en-US" sz="10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硬核才是你的底色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39896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9896" y="1188720"/>
            <a:ext cx="1600200" cy="73152"/>
          </a:xfrm>
          <a:prstGeom prst="rect">
            <a:avLst/>
          </a:prstGeom>
          <a:solidFill>
            <a:srgbClr val="FFB347"/>
          </a:solidFill>
        </p:spPr>
      </p:sp>
      <p:sp>
        <p:nvSpPr>
          <p:cNvPr id="22" name="Shape 20"/>
          <p:cNvSpPr/>
          <p:nvPr/>
        </p:nvSpPr>
        <p:spPr>
          <a:xfrm>
            <a:off x="4242816" y="1463040"/>
            <a:ext cx="548640" cy="548640"/>
          </a:xfrm>
          <a:prstGeom prst="ellipse">
            <a:avLst/>
          </a:prstGeom>
          <a:solidFill>
            <a:srgbClr val="FFB347"/>
          </a:solidFill>
        </p:spPr>
      </p:sp>
      <p:sp>
        <p:nvSpPr>
          <p:cNvPr id="23" name="Text 21"/>
          <p:cNvSpPr/>
          <p:nvPr/>
        </p:nvSpPr>
        <p:spPr>
          <a:xfrm>
            <a:off x="4242816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蜜桃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31336" y="214884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活力佛系人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31336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#躺不平卷不赢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05656" y="2926080"/>
            <a:ext cx="868680" cy="9144"/>
          </a:xfrm>
          <a:prstGeom prst="rect">
            <a:avLst/>
          </a:prstGeom>
          <a:solidFill>
            <a:srgbClr val="C6C2B7">
              <a:alpha val="5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3877056" y="306324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嘴上说着随缘</a:t>
            </a:r>
            <a:endParaRPr lang="en-US" sz="10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心里全力以赴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95544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95544" y="1188720"/>
            <a:ext cx="1600200" cy="73152"/>
          </a:xfrm>
          <a:prstGeom prst="rect">
            <a:avLst/>
          </a:prstGeom>
          <a:solidFill>
            <a:srgbClr val="F0ECE3"/>
          </a:solidFill>
        </p:spPr>
      </p:sp>
      <p:sp>
        <p:nvSpPr>
          <p:cNvPr id="30" name="Shape 28"/>
          <p:cNvSpPr/>
          <p:nvPr/>
        </p:nvSpPr>
        <p:spPr>
          <a:xfrm>
            <a:off x="5998464" y="1463040"/>
            <a:ext cx="548640" cy="548640"/>
          </a:xfrm>
          <a:prstGeom prst="ellipse">
            <a:avLst/>
          </a:prstGeom>
          <a:solidFill>
            <a:srgbClr val="F0ECE3"/>
          </a:solidFill>
        </p:spPr>
      </p:sp>
      <p:sp>
        <p:nvSpPr>
          <p:cNvPr id="31" name="Text 29"/>
          <p:cNvSpPr/>
          <p:nvPr/>
        </p:nvSpPr>
        <p:spPr>
          <a:xfrm>
            <a:off x="5998464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46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胶原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86984" y="214884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养生朋克族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86984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C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#精致保温杯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61304" y="2926080"/>
            <a:ext cx="868680" cy="9144"/>
          </a:xfrm>
          <a:prstGeom prst="rect">
            <a:avLst/>
          </a:prstGeom>
          <a:solidFill>
            <a:srgbClr val="C6C2B7">
              <a:alpha val="5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5632704" y="306324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一边熬夜一边敷面膜</a:t>
            </a:r>
            <a:endParaRPr lang="en-US" sz="10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精致地活就是朋克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51192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51192" y="1188720"/>
            <a:ext cx="1600200" cy="73152"/>
          </a:xfrm>
          <a:prstGeom prst="rect">
            <a:avLst/>
          </a:prstGeom>
          <a:solidFill>
            <a:srgbClr val="87CEEB"/>
          </a:solidFill>
        </p:spPr>
      </p:sp>
      <p:sp>
        <p:nvSpPr>
          <p:cNvPr id="38" name="Shape 36"/>
          <p:cNvSpPr/>
          <p:nvPr/>
        </p:nvSpPr>
        <p:spPr>
          <a:xfrm>
            <a:off x="7754112" y="1463040"/>
            <a:ext cx="548640" cy="548640"/>
          </a:xfrm>
          <a:prstGeom prst="ellipse">
            <a:avLst/>
          </a:prstGeom>
          <a:solidFill>
            <a:srgbClr val="87CEEB"/>
          </a:solidFill>
        </p:spPr>
      </p:sp>
      <p:sp>
        <p:nvSpPr>
          <p:cNvPr id="39" name="Text 37"/>
          <p:cNvSpPr/>
          <p:nvPr/>
        </p:nvSpPr>
        <p:spPr>
          <a:xfrm>
            <a:off x="7754112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乳酸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42632" y="214884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冷淡热心肠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342632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7CE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#外冷内热包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16952" y="2926080"/>
            <a:ext cx="868680" cy="9144"/>
          </a:xfrm>
          <a:prstGeom prst="rect">
            <a:avLst/>
          </a:prstGeom>
          <a:solidFill>
            <a:srgbClr val="C6C2B7">
              <a:alpha val="5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7388352" y="306324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表面冷冷淡淡</a:t>
            </a:r>
            <a:endParaRPr lang="en-US" sz="10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内心热热乎乎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Tender Formalism 视觉设计语言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色彩系统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8" name="Text 5"/>
          <p:cNvSpPr/>
          <p:nvPr/>
        </p:nvSpPr>
        <p:spPr>
          <a:xfrm>
            <a:off x="1325880" y="19019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AD绿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5880" y="212140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品牌主色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11680" y="1920240"/>
            <a:ext cx="457200" cy="457200"/>
          </a:xfrm>
          <a:prstGeom prst="ellipse">
            <a:avLst/>
          </a:prstGeom>
          <a:solidFill>
            <a:srgbClr val="FFB6C1"/>
          </a:solidFill>
        </p:spPr>
      </p:sp>
      <p:sp>
        <p:nvSpPr>
          <p:cNvPr id="11" name="Text 8"/>
          <p:cNvSpPr/>
          <p:nvPr/>
        </p:nvSpPr>
        <p:spPr>
          <a:xfrm>
            <a:off x="2560320" y="19019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草莓粉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212140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甜心硬核派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920240"/>
            <a:ext cx="457200" cy="457200"/>
          </a:xfrm>
          <a:prstGeom prst="ellipse">
            <a:avLst/>
          </a:prstGeom>
          <a:solidFill>
            <a:srgbClr val="FFB347"/>
          </a:solidFill>
        </p:spPr>
      </p:sp>
      <p:sp>
        <p:nvSpPr>
          <p:cNvPr id="14" name="Text 11"/>
          <p:cNvSpPr/>
          <p:nvPr/>
        </p:nvSpPr>
        <p:spPr>
          <a:xfrm>
            <a:off x="3794760" y="19019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蜜桃橙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94760" y="212140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活力佛系人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F0ECE3"/>
          </a:solidFill>
        </p:spPr>
      </p:sp>
      <p:sp>
        <p:nvSpPr>
          <p:cNvPr id="17" name="Text 14"/>
          <p:cNvSpPr/>
          <p:nvPr/>
        </p:nvSpPr>
        <p:spPr>
          <a:xfrm>
            <a:off x="1325880" y="309067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蛋白白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25880" y="331012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养生朋克族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011680" y="3108960"/>
            <a:ext cx="457200" cy="457200"/>
          </a:xfrm>
          <a:prstGeom prst="ellipse">
            <a:avLst/>
          </a:prstGeom>
          <a:solidFill>
            <a:srgbClr val="87CEEB"/>
          </a:solidFill>
        </p:spPr>
      </p:sp>
      <p:sp>
        <p:nvSpPr>
          <p:cNvPr id="20" name="Text 17"/>
          <p:cNvSpPr/>
          <p:nvPr/>
        </p:nvSpPr>
        <p:spPr>
          <a:xfrm>
            <a:off x="2560320" y="309067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清爽蓝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560320" y="331012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冷淡热心肠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1188720"/>
            <a:ext cx="2011680" cy="155448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13533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四档字重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937760" y="1783080"/>
            <a:ext cx="1645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Ghost 200 / Body 400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Medium 600 / Monument 900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极致粗细对比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49440" y="1188720"/>
            <a:ext cx="2011680" cy="155448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543800" y="13533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三层纹理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132320" y="1783080"/>
            <a:ext cx="1645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微粒噪点 + 纤维线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边缘暗角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模拟纸张呼吸感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754880" y="2971800"/>
            <a:ext cx="2011680" cy="155448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49240" y="31363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黄金比例布局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4937760" y="3566160"/>
            <a:ext cx="1645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38.2% / 61.8% 锚点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精确的数学美感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每个元素有存在理由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949440" y="2971800"/>
            <a:ext cx="2011680" cy="155448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154680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543800" y="31363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诗意微交互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32320" y="3566160"/>
            <a:ext cx="1645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标本抽屉选项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铜版按钮质感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呼吸动画替代脉冲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7BC67E">
              <a:alpha val="1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TASKS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你需要做的事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作为不懂代码的美术生，以下是你的核心工作</a:t>
            </a:r>
            <a:endParaRPr lang="en-US" sz="14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4023360" cy="150876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731520" y="1783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23360" y="1783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1188720" y="1645793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绘制奶瓶拟人化插画</a:t>
            </a:r>
            <a:endParaRPr lang="en-US" sz="150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822960" y="2103120"/>
            <a:ext cx="3566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5种口味的AD钙奶瓶拟人形象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每个瓶身有独特表情和动作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需要：眨眼、微笑、挥手等状态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格式：PNG透明底 / SVG矢量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建议尺寸：800×1000px</a:t>
            </a:r>
            <a:endParaRPr lang="en-US" sz="11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4846320" y="1645920"/>
            <a:ext cx="4023360" cy="150876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5029200" y="1783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321040" y="17830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5486400" y="1755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设计结果页人格插画</a:t>
            </a:r>
            <a:endParaRPr lang="en-US" sz="150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5120640" y="2194560"/>
            <a:ext cx="3566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为5种人格各绘制一幅主题插画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复古/甜美/活力/养生/冷淡 风格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需要与奶瓶形象组合使用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参考Tender Formalism美学风格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色彩与对应人格色统一</a:t>
            </a:r>
            <a:endParaRPr lang="en-US" sz="1100" dirty="0"/>
          </a:p>
        </p:txBody>
      </p:sp>
      <p:sp>
        <p:nvSpPr>
          <p:cNvPr id="16" name="Shape 12"/>
          <p:cNvSpPr/>
          <p:nvPr>
            <p:custDataLst>
              <p:tags r:id="rId13"/>
            </p:custDataLst>
          </p:nvPr>
        </p:nvSpPr>
        <p:spPr>
          <a:xfrm>
            <a:off x="548640" y="3337560"/>
            <a:ext cx="4023360" cy="150876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73152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pic>
        <p:nvPicPr>
          <p:cNvPr id="18" name="Image 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023360" y="34747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>
            <p:custDataLst>
              <p:tags r:id="rId17"/>
            </p:custDataLst>
          </p:nvPr>
        </p:nvSpPr>
        <p:spPr>
          <a:xfrm>
            <a:off x="1188720" y="34472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审核与反馈视觉稿</a:t>
            </a:r>
            <a:endParaRPr lang="en-US" sz="1500" dirty="0"/>
          </a:p>
        </p:txBody>
      </p:sp>
      <p:sp>
        <p:nvSpPr>
          <p:cNvPr id="20" name="Text 15"/>
          <p:cNvSpPr/>
          <p:nvPr>
            <p:custDataLst>
              <p:tags r:id="rId18"/>
            </p:custDataLst>
          </p:nvPr>
        </p:nvSpPr>
        <p:spPr>
          <a:xfrm>
            <a:off x="822960" y="3886200"/>
            <a:ext cx="3566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AI生成H5代码后，在手机上预览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检查颜色、间距、字体是否正确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反馈需要调整的细节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提供插画素材的最终版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测试分享海报效果</a:t>
            </a:r>
            <a:endParaRPr lang="en-US" sz="1100" dirty="0"/>
          </a:p>
        </p:txBody>
      </p:sp>
      <p:sp>
        <p:nvSpPr>
          <p:cNvPr id="21" name="Shape 16"/>
          <p:cNvSpPr/>
          <p:nvPr>
            <p:custDataLst>
              <p:tags r:id="rId19"/>
            </p:custDataLst>
          </p:nvPr>
        </p:nvSpPr>
        <p:spPr>
          <a:xfrm>
            <a:off x="4846320" y="3337560"/>
            <a:ext cx="4023360" cy="150876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7"/>
          <p:cNvSpPr/>
          <p:nvPr>
            <p:custDataLst>
              <p:tags r:id="rId20"/>
            </p:custDataLst>
          </p:nvPr>
        </p:nvSpPr>
        <p:spPr>
          <a:xfrm>
            <a:off x="502920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pic>
        <p:nvPicPr>
          <p:cNvPr id="23" name="Image 3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321040" y="34747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>
            <p:custDataLst>
              <p:tags r:id="rId23"/>
            </p:custDataLst>
          </p:nvPr>
        </p:nvSpPr>
        <p:spPr>
          <a:xfrm>
            <a:off x="5486400" y="34472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素材整合与上线准备</a:t>
            </a:r>
            <a:endParaRPr lang="en-US" sz="1500" dirty="0"/>
          </a:p>
        </p:txBody>
      </p:sp>
      <p:sp>
        <p:nvSpPr>
          <p:cNvPr id="25" name="Text 19"/>
          <p:cNvSpPr/>
          <p:nvPr>
            <p:custDataLst>
              <p:tags r:id="rId24"/>
            </p:custDataLst>
          </p:nvPr>
        </p:nvSpPr>
        <p:spPr>
          <a:xfrm>
            <a:off x="5120640" y="3886200"/>
            <a:ext cx="3566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确认所有插画文件命名规范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检查在不同手机型号上的显示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准备品牌Logo高清文件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确认海报二维码链接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配合上线时间节点交付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HANDLES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AI帮你完成的所有工作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你完全不需要接触代码，以下全部由AI生成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2763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H5页面开发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完整的HTML/CSS/JS代码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单文件，无需服务器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移动端完美适配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46304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62763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交互动效实现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0" y="210312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逐字弹出、呼吸按钮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选项卡片微交互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纸屑庆祝动画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46304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459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162763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海报生成功能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37960" y="210312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html2canvas截图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5种人格海报模板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一键保存分享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20040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832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36499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视觉细节打磨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384048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Tender Formalism全套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三层纹理+黄金比例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OKLCH精确配色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429000" y="320040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3832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14800" y="336499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测试逻辑开发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657600" y="384048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5道题目计分系统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人格匹配算法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结果页面路由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309360" y="320040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3832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336499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多机型兼容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537960" y="384048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iPhone SE到iPad Pro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刘海屏安全区适配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安卓浏览器兼容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项目时间规划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508760"/>
            <a:ext cx="7132320" cy="27432"/>
          </a:xfrm>
          <a:prstGeom prst="rect">
            <a:avLst/>
          </a:prstGeom>
          <a:solidFill>
            <a:srgbClr val="7BC67E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371600" y="1371600"/>
            <a:ext cx="274320" cy="27432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6" name="Text 4"/>
          <p:cNvSpPr/>
          <p:nvPr/>
        </p:nvSpPr>
        <p:spPr>
          <a:xfrm>
            <a:off x="548640" y="1097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第1周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920240" cy="274320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574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素材准备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16459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绘制奶瓶拟人化插画（5种）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绘制结果页人格插画（5种）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准备品牌Logo文件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4251960"/>
            <a:ext cx="1645920" cy="274320"/>
          </a:xfrm>
          <a:prstGeom prst="rect">
            <a:avLst/>
          </a:prstGeom>
          <a:solidFill>
            <a:srgbClr val="5BAF5E">
              <a:alpha val="4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85800" y="4251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你来完成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371600"/>
            <a:ext cx="274320" cy="27432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13" name="Text 11"/>
          <p:cNvSpPr/>
          <p:nvPr/>
        </p:nvSpPr>
        <p:spPr>
          <a:xfrm>
            <a:off x="2697480" y="1097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第2周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1920240"/>
            <a:ext cx="1920240" cy="274320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20574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H5开发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2423160"/>
            <a:ext cx="16459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AI生成完整H5页面代码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实现所有交互动效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开发海报生成功能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4251960"/>
            <a:ext cx="1645920" cy="274320"/>
          </a:xfrm>
          <a:prstGeom prst="rect">
            <a:avLst/>
          </a:prstGeom>
          <a:solidFill>
            <a:srgbClr val="4A8FD0">
              <a:alpha val="4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2834640" y="4251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AI完成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371600"/>
            <a:ext cx="274320" cy="27432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20" name="Text 18"/>
          <p:cNvSpPr/>
          <p:nvPr/>
        </p:nvSpPr>
        <p:spPr>
          <a:xfrm>
            <a:off x="4846320" y="1097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第3周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920240"/>
            <a:ext cx="1920240" cy="274320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20574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联调优化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2423160"/>
            <a:ext cx="16459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集成你的插画素材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多机型测试与调优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视觉细节打磨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4251960"/>
            <a:ext cx="1645920" cy="274320"/>
          </a:xfrm>
          <a:prstGeom prst="rect">
            <a:avLst/>
          </a:prstGeom>
          <a:solidFill>
            <a:srgbClr val="5BAF5E">
              <a:alpha val="4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4983480" y="4251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协作完成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1371600"/>
            <a:ext cx="274320" cy="274320"/>
          </a:xfrm>
          <a:prstGeom prst="ellipse">
            <a:avLst/>
          </a:prstGeom>
          <a:solidFill>
            <a:srgbClr val="7BC67E"/>
          </a:solidFill>
        </p:spPr>
      </p:sp>
      <p:sp>
        <p:nvSpPr>
          <p:cNvPr id="27" name="Text 25"/>
          <p:cNvSpPr/>
          <p:nvPr/>
        </p:nvSpPr>
        <p:spPr>
          <a:xfrm>
            <a:off x="6995160" y="1097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第4周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95160" y="1920240"/>
            <a:ext cx="1920240" cy="2743200"/>
          </a:xfrm>
          <a:prstGeom prst="rect">
            <a:avLst/>
          </a:prstGeom>
          <a:solidFill>
            <a:srgbClr val="3A3835"/>
          </a:solidFill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20574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交付上线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32320" y="2423160"/>
            <a:ext cx="16459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最终审核与修改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性能优化与兼容测试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正式发布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4251960"/>
            <a:ext cx="1645920" cy="274320"/>
          </a:xfrm>
          <a:prstGeom prst="rect">
            <a:avLst/>
          </a:prstGeom>
          <a:solidFill>
            <a:srgbClr val="4A8FD0">
              <a:alpha val="4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7132320" y="4251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协作完成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C6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陪你酸酸甜甜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懂你可可爱爱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0" y="2743200"/>
            <a:ext cx="1828800" cy="27432"/>
          </a:xfrm>
          <a:prstGeom prst="rect">
            <a:avLst/>
          </a:prstGeom>
          <a:solidFill>
            <a:srgbClr val="FFFFFF">
              <a:alpha val="6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AD钙奶30周年 H5 互动广告页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1996 —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准备好了吗？把你的创意交给代码，让AI帮你实现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2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3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4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5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6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7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8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9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0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1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2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3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4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5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6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7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8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19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ags/tag20.xml><?xml version="1.0" encoding="utf-8"?>
<p:tagLst xmlns:p="http://schemas.openxmlformats.org/presentationml/2006/main">
  <p:tag name="KSO_WM_DIAGRAM_VIRTUALLY_FRAME" val="{&quot;height&quot;:252.01,&quot;left&quot;:43.2,&quot;top&quot;:129.59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1592</Words>
  <Application>WPS 演示</Application>
  <PresentationFormat>On-screen Show (16:9)</PresentationFormat>
  <Paragraphs>303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Calibri</vt:lpstr>
      <vt:lpstr>Calibri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AD钙奶30周年 H5 — 项目指南</dc:title>
  <dc:creator>AD钙奶30周年 H5项目组</dc:creator>
  <dc:subject>PptxGenJS Presentation</dc:subject>
  <cp:lastModifiedBy>WPS_1615298740</cp:lastModifiedBy>
  <cp:revision>2</cp:revision>
  <dcterms:created xsi:type="dcterms:W3CDTF">2026-05-12T16:37:00Z</dcterms:created>
  <dcterms:modified xsi:type="dcterms:W3CDTF">2026-05-12T16:39:09Z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0F4EFBA8084C436AAE2D50453888BDC5_12</vt:lpwstr>
  </property>
  <property fmtid="{D5CDD505-2E9C-101B-9397-08002B2CF9AE}" pid="3" name="KSOProductBuildVer">
    <vt:lpwstr>2052-12.1.0.25865</vt:lpwstr>
  </property>
</Properties>
</file>